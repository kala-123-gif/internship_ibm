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87" r:id="rId9"/>
    <p:sldId id="288" r:id="rId10"/>
    <p:sldId id="289" r:id="rId11"/>
    <p:sldId id="290" r:id="rId12"/>
    <p:sldId id="291" r:id="rId13"/>
    <p:sldId id="262" r:id="rId14"/>
    <p:sldId id="264" r:id="rId15"/>
    <p:sldId id="278" r:id="rId16"/>
    <p:sldId id="286" r:id="rId17"/>
    <p:sldId id="277" r:id="rId18"/>
    <p:sldId id="292" r:id="rId19"/>
    <p:sldId id="293" r:id="rId20"/>
    <p:sldId id="294" r:id="rId21"/>
    <p:sldId id="280" r:id="rId22"/>
    <p:sldId id="27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la-123-gif/IB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areersathiai.vercel.app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areersathiai.vercel.app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806213421"/>
              </p:ext>
            </p:extLst>
          </p:nvPr>
        </p:nvGraphicFramePr>
        <p:xfrm>
          <a:off x="934721" y="2312667"/>
          <a:ext cx="9759527" cy="3536326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44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8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8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8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8813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81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Gollapalli Lakshmi Surya Vijaya Kala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324103282042.kala@gvpcew.ac.in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9032178226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894082" y="1238805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891205" y="257277"/>
            <a:ext cx="9581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Title –     </a:t>
            </a:r>
            <a:r>
              <a:rPr lang="en-US" sz="2400" b="1" dirty="0" err="1">
                <a:highlight>
                  <a:srgbClr val="FFFF00"/>
                </a:highlight>
              </a:rPr>
              <a:t>CareerSathi</a:t>
            </a:r>
            <a:r>
              <a:rPr lang="en-US" sz="2400" b="1" dirty="0">
                <a:highlight>
                  <a:srgbClr val="FFFF00"/>
                </a:highlight>
              </a:rPr>
              <a:t> AI</a:t>
            </a:r>
          </a:p>
          <a:p>
            <a:endParaRPr lang="en-US" sz="2400" b="1" dirty="0">
              <a:highlight>
                <a:srgbClr val="FFFF00"/>
              </a:highlight>
            </a:endParaRPr>
          </a:p>
          <a:p>
            <a:r>
              <a:rPr lang="en-US" sz="2400" b="1" dirty="0">
                <a:solidFill>
                  <a:schemeClr val="accent2"/>
                </a:solidFill>
                <a:highlight>
                  <a:srgbClr val="FFFF00"/>
                </a:highlight>
              </a:rPr>
              <a:t>AI-Powered Career Guidance and Skill Development Assistant</a:t>
            </a:r>
            <a:endParaRPr lang="en-IN" sz="2400" b="1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B67F1A-7AD3-58A8-DE99-CE5FC6B42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011" y="3910146"/>
            <a:ext cx="1862989" cy="18898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22224" y="776791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fontAlgn="base"/>
            <a:r>
              <a:rPr lang="en-US" b="1" dirty="0">
                <a:solidFill>
                  <a:srgbClr val="FF0000"/>
                </a:solidFill>
              </a:rPr>
              <a:t>The Challenge:</a:t>
            </a:r>
          </a:p>
          <a:p>
            <a:r>
              <a:rPr lang="en-US" dirty="0"/>
              <a:t>Many rural students face difficulties in choosing the right career path due </a:t>
            </a:r>
            <a:r>
              <a:rPr lang="en-US" dirty="0">
                <a:solidFill>
                  <a:schemeClr val="bg2"/>
                </a:solidFill>
              </a:rPr>
              <a:t>to </a:t>
            </a:r>
            <a:r>
              <a:rPr lang="en-US" b="1" dirty="0">
                <a:solidFill>
                  <a:schemeClr val="bg2"/>
                </a:solidFill>
              </a:rPr>
              <a:t>limited access to professional career guidance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lack of awareness about emerging opportunities</a:t>
            </a:r>
            <a:r>
              <a:rPr lang="en-US" dirty="0"/>
              <a:t>, and scattered information about skills, courses, and job requirements.</a:t>
            </a:r>
          </a:p>
          <a:p>
            <a:r>
              <a:rPr lang="en-US" dirty="0"/>
              <a:t>As a result</a:t>
            </a:r>
            <a:r>
              <a:rPr lang="en-US" b="1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students often struggle to make informed decisions about their education</a:t>
            </a:r>
            <a:r>
              <a:rPr lang="en-US" dirty="0"/>
              <a:t>, skill development, and future careers.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Objective: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Our Solution –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CareerSathi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AI</a:t>
            </a:r>
          </a:p>
          <a:p>
            <a:r>
              <a:rPr lang="en-US" b="1" dirty="0" err="1">
                <a:solidFill>
                  <a:schemeClr val="accent4"/>
                </a:solidFill>
              </a:rPr>
              <a:t>CareerSathi</a:t>
            </a:r>
            <a:r>
              <a:rPr lang="en-US" b="1" dirty="0">
                <a:solidFill>
                  <a:schemeClr val="accent4"/>
                </a:solidFill>
              </a:rPr>
              <a:t> AI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/>
              <a:t>is an AI-powered career guidance assistant that provides personalized career recommendations, skill-development roadmaps, learning resources, and placement preparation guidance.</a:t>
            </a:r>
          </a:p>
          <a:p>
            <a:r>
              <a:rPr lang="en-US" dirty="0"/>
              <a:t>The platform helps students:</a:t>
            </a:r>
          </a:p>
          <a:p>
            <a:r>
              <a:rPr lang="en-US" dirty="0"/>
              <a:t> ► Explore suitable career paths</a:t>
            </a:r>
          </a:p>
          <a:p>
            <a:r>
              <a:rPr lang="en-US" dirty="0"/>
              <a:t> ► Identify required skills and learning resources</a:t>
            </a:r>
          </a:p>
          <a:p>
            <a:r>
              <a:rPr lang="en-US" dirty="0"/>
              <a:t> ► Build personalized career roadmaps</a:t>
            </a:r>
          </a:p>
          <a:p>
            <a:r>
              <a:rPr lang="en-US" dirty="0"/>
              <a:t> ► Receive placement and interview guidance</a:t>
            </a:r>
          </a:p>
          <a:p>
            <a:r>
              <a:rPr lang="en-US" dirty="0"/>
              <a:t> ► Access reliable career information anytime</a:t>
            </a:r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Impact</a:t>
            </a:r>
          </a:p>
          <a:p>
            <a:endParaRPr lang="en-US" dirty="0"/>
          </a:p>
          <a:p>
            <a:r>
              <a:rPr lang="en-US" dirty="0" err="1"/>
              <a:t>CareerSathi</a:t>
            </a:r>
            <a:r>
              <a:rPr lang="en-US" dirty="0"/>
              <a:t> </a:t>
            </a:r>
            <a:r>
              <a:rPr lang="en-US" b="1" dirty="0"/>
              <a:t>AI empowers rural youth with accessible</a:t>
            </a:r>
            <a:r>
              <a:rPr lang="en-US" dirty="0"/>
              <a:t>, personalized, and real-time career guidance, helping them transform career aspirations into actionable plans.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22224" y="315126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  </a:t>
            </a:r>
            <a:r>
              <a:rPr lang="en-US" sz="1600" b="1" dirty="0"/>
              <a:t>AI Career Counselor Rural Youth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545592" y="810153"/>
            <a:ext cx="106070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</a:t>
            </a:r>
          </a:p>
          <a:p>
            <a:pPr fontAlgn="base"/>
            <a:endParaRPr lang="en-IN" b="1" dirty="0"/>
          </a:p>
          <a:p>
            <a:r>
              <a:rPr lang="en-IN" b="1" dirty="0">
                <a:highlight>
                  <a:srgbClr val="FFFF00"/>
                </a:highlight>
              </a:rPr>
              <a:t>Core Technologies</a:t>
            </a:r>
          </a:p>
          <a:p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Orchestrate</a:t>
            </a:r>
            <a:r>
              <a:rPr lang="en-IN" dirty="0"/>
              <a:t> – Agent creation, management, and deployment </a:t>
            </a:r>
          </a:p>
          <a:p>
            <a:r>
              <a:rPr lang="en-IN" b="1" dirty="0"/>
              <a:t>IBM watsonx.ai</a:t>
            </a:r>
            <a:r>
              <a:rPr lang="en-IN" dirty="0"/>
              <a:t> – AI platform for model access and inference </a:t>
            </a:r>
          </a:p>
          <a:p>
            <a:r>
              <a:rPr lang="en-IN" b="1" dirty="0"/>
              <a:t>IBM Granite Models</a:t>
            </a:r>
            <a:r>
              <a:rPr lang="en-IN" dirty="0"/>
              <a:t> – Natural language understanding and career guidance generation</a:t>
            </a:r>
          </a:p>
          <a:p>
            <a:r>
              <a:rPr lang="en-IN" b="1" dirty="0"/>
              <a:t>IBM Knowledge Base </a:t>
            </a:r>
            <a:r>
              <a:rPr lang="en-IN" dirty="0"/>
              <a:t>– Stores and retrieves career knowledge for accurate responses</a:t>
            </a:r>
          </a:p>
          <a:p>
            <a:endParaRPr lang="en-IN" dirty="0"/>
          </a:p>
          <a:p>
            <a:r>
              <a:rPr lang="en-IN" b="1" dirty="0">
                <a:highlight>
                  <a:srgbClr val="00FF00"/>
                </a:highlight>
              </a:rPr>
              <a:t>Supporting Technologies</a:t>
            </a:r>
          </a:p>
          <a:p>
            <a:r>
              <a:rPr lang="en-IN" b="1" dirty="0" err="1"/>
              <a:t>Vercel</a:t>
            </a:r>
            <a:r>
              <a:rPr lang="en-IN" dirty="0"/>
              <a:t> – Web hosting and deployment </a:t>
            </a:r>
          </a:p>
          <a:p>
            <a:r>
              <a:rPr lang="en-IN" b="1" dirty="0"/>
              <a:t>HTML</a:t>
            </a:r>
            <a:r>
              <a:rPr lang="en-IN" dirty="0"/>
              <a:t> – Frontend structure </a:t>
            </a:r>
          </a:p>
          <a:p>
            <a:r>
              <a:rPr lang="en-IN" b="1" dirty="0"/>
              <a:t>JavaScript</a:t>
            </a:r>
            <a:r>
              <a:rPr lang="en-IN" dirty="0"/>
              <a:t> – Agent embedding and interaction </a:t>
            </a:r>
          </a:p>
          <a:p>
            <a:r>
              <a:rPr lang="en-IN" b="1" dirty="0"/>
              <a:t>Knowledge Base / RAG</a:t>
            </a:r>
            <a:r>
              <a:rPr lang="en-IN" dirty="0"/>
              <a:t> – Career information retrieval and recommendations</a:t>
            </a:r>
          </a:p>
          <a:p>
            <a:pPr fontAlgn="base"/>
            <a:endParaRPr lang="en-IN" dirty="0"/>
          </a:p>
          <a:p>
            <a:pPr fontAlgn="base"/>
            <a:endParaRPr lang="en-IN" dirty="0"/>
          </a:p>
          <a:p>
            <a:pPr fontAlgn="base"/>
            <a:r>
              <a:rPr lang="en-IN" dirty="0">
                <a:highlight>
                  <a:srgbClr val="FFFF00"/>
                </a:highlight>
              </a:rPr>
              <a:t> IBM </a:t>
            </a:r>
            <a:r>
              <a:rPr lang="en-IN" dirty="0" err="1">
                <a:highlight>
                  <a:srgbClr val="FFFF00"/>
                </a:highlight>
              </a:rPr>
              <a:t>watsonx</a:t>
            </a:r>
            <a:r>
              <a:rPr lang="en-IN" dirty="0">
                <a:highlight>
                  <a:srgbClr val="FFFF00"/>
                </a:highlight>
              </a:rPr>
              <a:t> Orchestrate + IBM watsonx.ai + IBM Granite Models + </a:t>
            </a:r>
            <a:r>
              <a:rPr lang="en-IN" dirty="0" err="1">
                <a:highlight>
                  <a:srgbClr val="FFFF00"/>
                </a:highlight>
              </a:rPr>
              <a:t>Vercel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454152" y="27736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35560" y="681897"/>
            <a:ext cx="1212088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CareerSathi</a:t>
            </a:r>
            <a:r>
              <a:rPr lang="en-US" b="1" dirty="0"/>
              <a:t> AI</a:t>
            </a:r>
            <a:r>
              <a:rPr lang="en-US" dirty="0"/>
              <a:t> is an </a:t>
            </a:r>
            <a:r>
              <a:rPr lang="en-US" b="1" dirty="0"/>
              <a:t>AI-powered Career Counseling Agent</a:t>
            </a:r>
            <a:r>
              <a:rPr lang="en-US" dirty="0"/>
              <a:t> built to empower rural and underserved students with personalized career guidance. It acts as a </a:t>
            </a:r>
            <a:r>
              <a:rPr lang="en-US" b="1" dirty="0"/>
              <a:t>virtual career mentor</a:t>
            </a:r>
            <a:r>
              <a:rPr lang="en-US" dirty="0"/>
              <a:t> that understands a student's interests, strengths, academic background, and career goals to recommend suitable career paths, skills to learn, and opportunities to explore.</a:t>
            </a:r>
          </a:p>
          <a:p>
            <a:endParaRPr lang="en-US" dirty="0"/>
          </a:p>
          <a:p>
            <a:r>
              <a:rPr lang="en-IN" dirty="0"/>
              <a:t>Built using </a:t>
            </a:r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Orchestrate, IBM watsonx.ai, Granite Models, and </a:t>
            </a:r>
            <a:r>
              <a:rPr lang="en-IN" b="1" dirty="0" err="1"/>
              <a:t>LangFlow</a:t>
            </a:r>
            <a:r>
              <a:rPr lang="en-IN" dirty="0"/>
              <a:t>, the solution combines intelligent conversation, knowledge retrieval, and multi-agent orchestration to deliver accurate, personalized, and actionable career guidance.</a:t>
            </a:r>
          </a:p>
          <a:p>
            <a:endParaRPr lang="en-IN" u="sng" dirty="0"/>
          </a:p>
          <a:p>
            <a:r>
              <a:rPr lang="en-IN" sz="1600" b="1" u="sng" dirty="0">
                <a:solidFill>
                  <a:schemeClr val="accent1">
                    <a:lumMod val="50000"/>
                  </a:schemeClr>
                </a:solidFill>
              </a:rPr>
              <a:t>        Key Agents &amp; Capabilities</a:t>
            </a:r>
          </a:p>
          <a:p>
            <a:endParaRPr lang="en-IN" sz="1600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        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Career Discovery Agent                        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Skill Gap Agent                                   </a:t>
            </a:r>
            <a:r>
              <a:rPr lang="en-IN" b="1" dirty="0">
                <a:solidFill>
                  <a:srgbClr val="7030A0"/>
                </a:solidFill>
              </a:rPr>
              <a:t>Learning Roadmap Agent                     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Placement Support</a:t>
            </a:r>
          </a:p>
          <a:p>
            <a:r>
              <a:rPr lang="en-US" dirty="0"/>
              <a:t>          Identifies suitable career paths                  </a:t>
            </a:r>
            <a:r>
              <a:rPr lang="en-IN" dirty="0" err="1"/>
              <a:t>Analyzes</a:t>
            </a:r>
            <a:r>
              <a:rPr lang="en-IN" dirty="0"/>
              <a:t>  current  skills                       Creates  personalized                                Provides interview </a:t>
            </a:r>
            <a:endParaRPr lang="en-US" dirty="0"/>
          </a:p>
          <a:p>
            <a:r>
              <a:rPr lang="en-US" dirty="0"/>
              <a:t>          based on student interests,                       </a:t>
            </a:r>
            <a:r>
              <a:rPr lang="en-IN" dirty="0"/>
              <a:t>against industry demands                     learning roadmaps with </a:t>
            </a:r>
            <a:r>
              <a:rPr lang="en-US" dirty="0"/>
              <a:t>                            </a:t>
            </a:r>
            <a:r>
              <a:rPr lang="en-IN" dirty="0"/>
              <a:t>preparation, resume</a:t>
            </a:r>
            <a:r>
              <a:rPr lang="en-US" dirty="0"/>
              <a:t>                            </a:t>
            </a:r>
          </a:p>
          <a:p>
            <a:r>
              <a:rPr lang="en-US" dirty="0"/>
              <a:t>          strengths, personality, and                        </a:t>
            </a:r>
            <a:r>
              <a:rPr lang="en-IN" dirty="0"/>
              <a:t>and  identifies skill gaps                        courses, resources                                    building tips, and job </a:t>
            </a:r>
            <a:endParaRPr lang="en-US" dirty="0"/>
          </a:p>
          <a:p>
            <a:r>
              <a:rPr lang="en-US" dirty="0"/>
              <a:t>          aspirations.                                                </a:t>
            </a:r>
            <a:r>
              <a:rPr lang="en-IN" dirty="0"/>
              <a:t>with improvement tips.                          certifications, and projects.                        search strategies.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35560" y="128050"/>
            <a:ext cx="730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  <p:pic>
        <p:nvPicPr>
          <p:cNvPr id="8" name="Picture 7" descr="Jacqueline Cull - Watson Cull Family Law">
            <a:extLst>
              <a:ext uri="{FF2B5EF4-FFF2-40B4-BE49-F238E27FC236}">
                <a16:creationId xmlns:a16="http://schemas.microsoft.com/office/drawing/2014/main" id="{EB750745-F253-7910-F122-37D01DB83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90" y="2069888"/>
            <a:ext cx="251812" cy="37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F1FDC9-D9FA-CB3A-A4F5-48C96E2E7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60646"/>
            <a:ext cx="592327" cy="79733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8D033A-9CD2-F1D9-7AC6-EBDB5230CDA0}"/>
              </a:ext>
            </a:extLst>
          </p:cNvPr>
          <p:cNvCxnSpPr>
            <a:cxnSpLocks/>
          </p:cNvCxnSpPr>
          <p:nvPr/>
        </p:nvCxnSpPr>
        <p:spPr>
          <a:xfrm>
            <a:off x="3098800" y="2717800"/>
            <a:ext cx="0" cy="1135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1C52C25A-1114-9FC9-9881-378724E39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872" y="2583001"/>
            <a:ext cx="752860" cy="83292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71CB2D-A433-79CC-44AF-F0AE4EE46D8F}"/>
              </a:ext>
            </a:extLst>
          </p:cNvPr>
          <p:cNvCxnSpPr>
            <a:cxnSpLocks/>
          </p:cNvCxnSpPr>
          <p:nvPr/>
        </p:nvCxnSpPr>
        <p:spPr>
          <a:xfrm>
            <a:off x="5981700" y="2716518"/>
            <a:ext cx="0" cy="1135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1AEEA4F3-22E8-4089-AEAE-3069D75F7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4" y="2596078"/>
            <a:ext cx="875027" cy="832922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B52AF0F-71EB-0757-6D3C-B1869100F08F}"/>
              </a:ext>
            </a:extLst>
          </p:cNvPr>
          <p:cNvCxnSpPr>
            <a:cxnSpLocks/>
          </p:cNvCxnSpPr>
          <p:nvPr/>
        </p:nvCxnSpPr>
        <p:spPr>
          <a:xfrm>
            <a:off x="9202420" y="2716518"/>
            <a:ext cx="0" cy="1135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B8298755-1131-3A5E-A189-031F0F920E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9261" y="2624629"/>
            <a:ext cx="678172" cy="6597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F2C43C0-EE1B-3307-14C0-638EEB7257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490" y="3972191"/>
            <a:ext cx="410837" cy="42328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9EC1A37-7D70-80F9-F57A-C949D0535AE5}"/>
              </a:ext>
            </a:extLst>
          </p:cNvPr>
          <p:cNvSpPr txBox="1"/>
          <p:nvPr/>
        </p:nvSpPr>
        <p:spPr>
          <a:xfrm>
            <a:off x="35560" y="3860976"/>
            <a:ext cx="38481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               </a:t>
            </a:r>
          </a:p>
          <a:p>
            <a:r>
              <a:rPr lang="en-IN" b="1" u="sng" dirty="0"/>
              <a:t>           </a:t>
            </a:r>
            <a:r>
              <a:rPr lang="en-IN" sz="1600" b="1" u="sng" dirty="0">
                <a:solidFill>
                  <a:schemeClr val="accent1">
                    <a:lumMod val="75000"/>
                  </a:schemeClr>
                </a:solidFill>
              </a:rPr>
              <a:t>Key Features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269BDB-A5C0-73CC-EC0E-8E08F507792D}"/>
              </a:ext>
            </a:extLst>
          </p:cNvPr>
          <p:cNvSpPr txBox="1"/>
          <p:nvPr/>
        </p:nvSpPr>
        <p:spPr>
          <a:xfrm>
            <a:off x="106680" y="4500058"/>
            <a:ext cx="909574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 Natural language conversation in English &amp; regional languages      </a:t>
            </a:r>
            <a:r>
              <a:rPr lang="en-IN" dirty="0"/>
              <a:t>• Scholarship &amp; higher education guidance</a:t>
            </a:r>
            <a:r>
              <a:rPr lang="en-US" dirty="0"/>
              <a:t>                        </a:t>
            </a:r>
          </a:p>
          <a:p>
            <a:r>
              <a:rPr lang="en-IN" dirty="0"/>
              <a:t>•  Personalized career recommendations                                             •  Internship &amp; job opportunity suggestions</a:t>
            </a:r>
          </a:p>
          <a:p>
            <a:r>
              <a:rPr lang="en-US" dirty="0"/>
              <a:t>• Skill assessment &amp; gap analysis                                                         </a:t>
            </a:r>
            <a:r>
              <a:rPr lang="en-IN" dirty="0"/>
              <a:t>•  Real-time doubt resolution</a:t>
            </a:r>
            <a:endParaRPr lang="en-US" dirty="0"/>
          </a:p>
          <a:p>
            <a:r>
              <a:rPr lang="en-US" dirty="0"/>
              <a:t>• Step-by-step learning roadmaps                                                         </a:t>
            </a:r>
            <a:r>
              <a:rPr lang="en-IN" dirty="0"/>
              <a:t>• Progress tracking &amp; goal management</a:t>
            </a:r>
            <a:endParaRPr lang="en-US" dirty="0"/>
          </a:p>
          <a:p>
            <a:r>
              <a:rPr lang="en-US" dirty="0"/>
              <a:t>• Course &amp; certification recommendations</a:t>
            </a:r>
          </a:p>
          <a:p>
            <a:r>
              <a:rPr lang="en-US" dirty="0"/>
              <a:t>• Resume &amp; interview preparation support</a:t>
            </a:r>
          </a:p>
          <a:p>
            <a:endParaRPr lang="en-IN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6B29063-51C1-481E-B303-82CA585CF4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8350" y="3972191"/>
            <a:ext cx="721360" cy="60331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4C7C151-A529-75AE-0CD5-A877E1BBE31B}"/>
              </a:ext>
            </a:extLst>
          </p:cNvPr>
          <p:cNvSpPr txBox="1"/>
          <p:nvPr/>
        </p:nvSpPr>
        <p:spPr>
          <a:xfrm>
            <a:off x="9018390" y="3937230"/>
            <a:ext cx="29921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</a:t>
            </a:r>
          </a:p>
          <a:p>
            <a:r>
              <a:rPr lang="en-IN" dirty="0"/>
              <a:t>                  </a:t>
            </a:r>
            <a:r>
              <a:rPr lang="en-IN" sz="1600" b="1" u="sng" dirty="0">
                <a:solidFill>
                  <a:schemeClr val="accent1">
                    <a:lumMod val="50000"/>
                  </a:schemeClr>
                </a:solidFill>
              </a:rPr>
              <a:t>Usage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1FCD98-773C-3560-273E-6EC98E44C5CD}"/>
              </a:ext>
            </a:extLst>
          </p:cNvPr>
          <p:cNvSpPr txBox="1"/>
          <p:nvPr/>
        </p:nvSpPr>
        <p:spPr>
          <a:xfrm>
            <a:off x="9202420" y="4575030"/>
            <a:ext cx="29921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Students interact via chat interface </a:t>
            </a:r>
            <a:r>
              <a:rPr lang="en-IN" b="1" dirty="0"/>
              <a:t>→</a:t>
            </a:r>
            <a:r>
              <a:rPr lang="en-IN" dirty="0"/>
              <a:t> share their skills interests, skills, education background </a:t>
            </a:r>
            <a:r>
              <a:rPr lang="en-IN" b="1" dirty="0"/>
              <a:t>→</a:t>
            </a:r>
            <a:r>
              <a:rPr lang="en-IN" dirty="0"/>
              <a:t> receive personalized career options</a:t>
            </a:r>
          </a:p>
          <a:p>
            <a:r>
              <a:rPr lang="en-IN" dirty="0"/>
              <a:t>→follow learning roadmap →</a:t>
            </a:r>
          </a:p>
          <a:p>
            <a:r>
              <a:rPr lang="en-IN" dirty="0"/>
              <a:t>build skills → get placement &amp; higher education guidance.</a:t>
            </a:r>
          </a:p>
          <a:p>
            <a:r>
              <a:rPr lang="en-IN" dirty="0"/>
              <a:t> 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CFDC475-B1E8-5C24-25EA-B7449FD1B4C9}"/>
              </a:ext>
            </a:extLst>
          </p:cNvPr>
          <p:cNvCxnSpPr>
            <a:cxnSpLocks/>
          </p:cNvCxnSpPr>
          <p:nvPr/>
        </p:nvCxnSpPr>
        <p:spPr>
          <a:xfrm>
            <a:off x="11897360" y="2716518"/>
            <a:ext cx="0" cy="1135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4405075" y="273888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CareerSathi</a:t>
            </a:r>
            <a:r>
              <a:rPr lang="en-US" sz="2400" b="1" dirty="0">
                <a:sym typeface="Times New Roman"/>
              </a:rPr>
              <a:t> AI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6BD842-6488-278A-DF8A-8D42FE5D3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2396"/>
            <a:ext cx="12107031" cy="613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203200" y="71120"/>
            <a:ext cx="6243319" cy="7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 dirty="0"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B86689-D77A-8528-7258-DADEF1DF9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845053"/>
            <a:ext cx="11826240" cy="60129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BD522D-38E0-7D20-AF08-0AE136E58B72}"/>
              </a:ext>
            </a:extLst>
          </p:cNvPr>
          <p:cNvSpPr txBox="1"/>
          <p:nvPr/>
        </p:nvSpPr>
        <p:spPr>
          <a:xfrm>
            <a:off x="2570480" y="227254"/>
            <a:ext cx="8336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User Query Processing and </a:t>
            </a:r>
            <a:r>
              <a:rPr lang="en-IN" sz="2400" b="1" dirty="0" err="1">
                <a:solidFill>
                  <a:srgbClr val="0070C0"/>
                </a:solidFill>
              </a:rPr>
              <a:t>ResponseTesting</a:t>
            </a:r>
            <a:endParaRPr lang="en-IN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77D9FFA-1EFF-7C54-2FB3-7D5DBF57EED8}"/>
              </a:ext>
            </a:extLst>
          </p:cNvPr>
          <p:cNvSpPr txBox="1"/>
          <p:nvPr/>
        </p:nvSpPr>
        <p:spPr>
          <a:xfrm>
            <a:off x="4008380" y="-26708"/>
            <a:ext cx="372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Generated Responses</a:t>
            </a:r>
            <a:endParaRPr lang="en-IN" sz="2400" b="1" dirty="0">
              <a:solidFill>
                <a:srgbClr val="FFC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16835B-F1EA-2326-9CCB-86FC742C6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99689"/>
            <a:ext cx="10668000" cy="545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37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2752F5C-EE21-5280-9C95-FB18E59B8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218440"/>
            <a:ext cx="11490960" cy="642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51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853954-A879-E7FA-6E8C-D4228C5C3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457200"/>
            <a:ext cx="1093216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44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45AD16-2332-F703-07BA-2BE5CA885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347758"/>
            <a:ext cx="10830560" cy="591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63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5AFE2E-90B1-5B62-F1E2-B5E4EF394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406401"/>
            <a:ext cx="11379200" cy="593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35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187071" y="67958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2C481-38B5-7FDB-9C9E-DBBCEAB20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" y="57798"/>
            <a:ext cx="12192000" cy="67220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262128" y="25298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262128" y="1226443"/>
            <a:ext cx="74066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</a:t>
            </a:r>
            <a:r>
              <a:rPr lang="en-US" b="1" dirty="0" err="1"/>
              <a:t>CareerSathi</a:t>
            </a:r>
            <a:r>
              <a:rPr lang="en-US" b="1" dirty="0"/>
              <a:t> AI</a:t>
            </a:r>
          </a:p>
          <a:p>
            <a:r>
              <a:rPr lang="en-US" dirty="0"/>
              <a:t>Agentic AI enables </a:t>
            </a:r>
            <a:r>
              <a:rPr lang="en-US" dirty="0" err="1"/>
              <a:t>CareerSathi</a:t>
            </a:r>
            <a:r>
              <a:rPr lang="en-US" dirty="0"/>
              <a:t> AI to function as an intelligent, autonomous career guidance system rather than a simple chatbot. Using </a:t>
            </a:r>
            <a:r>
              <a:rPr lang="en-US" b="1" dirty="0"/>
              <a:t>IBM watsonx.ai, IBM </a:t>
            </a:r>
            <a:r>
              <a:rPr lang="en-US" b="1" dirty="0" err="1"/>
              <a:t>watsonx</a:t>
            </a:r>
            <a:r>
              <a:rPr lang="en-US" b="1" dirty="0"/>
              <a:t> Orchestrate, and Granite Models</a:t>
            </a:r>
            <a:r>
              <a:rPr lang="en-US" dirty="0"/>
              <a:t>, it coordinates multiple specialized agents to deliver personalized career recommendations.</a:t>
            </a:r>
          </a:p>
          <a:p>
            <a:r>
              <a:rPr lang="en-US" dirty="0"/>
              <a:t>Each agent performs a specific role—such as career discovery, skill gap analysis, learning roadmap generation, placement support, and higher education guidance—while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> ensures accurate and context-aware career assistance.</a:t>
            </a:r>
          </a:p>
          <a:p>
            <a:r>
              <a:rPr lang="en-US" dirty="0"/>
              <a:t>Agentic AI understands a student's interests, educational background, skills, and career goals to provide tailored recommendations. It supports </a:t>
            </a:r>
            <a:r>
              <a:rPr lang="en-US" b="1" dirty="0"/>
              <a:t>real-time adaptation</a:t>
            </a:r>
            <a:r>
              <a:rPr lang="en-US" dirty="0"/>
              <a:t>, continuously refining guidance based on user inputs and changing career aspirations.</a:t>
            </a:r>
          </a:p>
          <a:p>
            <a:r>
              <a:rPr lang="en-US" dirty="0"/>
              <a:t>Additionally, agents communicate with each other, enabling better decision-making and end-to-end career planning. Overall, Agentic AI makes </a:t>
            </a:r>
            <a:r>
              <a:rPr lang="en-US" dirty="0" err="1"/>
              <a:t>CareerSathi</a:t>
            </a:r>
            <a:r>
              <a:rPr lang="en-US" dirty="0"/>
              <a:t> AI proactive, personalized, and goal-driven, acting like a </a:t>
            </a:r>
            <a:r>
              <a:rPr lang="en-US" b="1" dirty="0"/>
              <a:t>24/7 digital career mentor</a:t>
            </a:r>
            <a:r>
              <a:rPr lang="en-US" dirty="0"/>
              <a:t> that helps students make informed career decisions and achieve their professional goals.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48BE23-8CE0-27CC-70CB-84721AB7A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1093438"/>
            <a:ext cx="3088640" cy="40208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430528"/>
            <a:ext cx="105156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Orchestrate</a:t>
            </a:r>
            <a:r>
              <a:rPr lang="en-IN" dirty="0"/>
              <a:t> – For orchestrating AI agents, managing conversations, and coordinating career guidance workflows.</a:t>
            </a:r>
          </a:p>
          <a:p>
            <a:r>
              <a:rPr lang="en-IN" dirty="0"/>
              <a:t>• </a:t>
            </a:r>
            <a:r>
              <a:rPr lang="en-IN" b="1" dirty="0"/>
              <a:t>IBM watsonx.ai</a:t>
            </a:r>
            <a:r>
              <a:rPr lang="en-IN" dirty="0"/>
              <a:t> – For deploying foundation models and generating personalized career recommendations and learning roadmaps.</a:t>
            </a:r>
          </a:p>
          <a:p>
            <a:r>
              <a:rPr lang="en-IN" dirty="0"/>
              <a:t>• </a:t>
            </a:r>
            <a:r>
              <a:rPr lang="en-IN" b="1" dirty="0"/>
              <a:t>IBM Granite Models / Llama Models</a:t>
            </a:r>
            <a:r>
              <a:rPr lang="en-IN" dirty="0"/>
              <a:t> – For natural language understanding, reasoning, career </a:t>
            </a:r>
            <a:r>
              <a:rPr lang="en-IN" dirty="0" err="1"/>
              <a:t>counseling</a:t>
            </a:r>
            <a:r>
              <a:rPr lang="en-IN" dirty="0"/>
              <a:t>, and personalized guidance.</a:t>
            </a:r>
          </a:p>
          <a:p>
            <a:r>
              <a:rPr lang="en-IN" dirty="0"/>
              <a:t>• </a:t>
            </a:r>
            <a:r>
              <a:rPr lang="en-IN" b="1" dirty="0"/>
              <a:t>Knowledge Base (KB)</a:t>
            </a:r>
            <a:r>
              <a:rPr lang="en-IN" dirty="0"/>
              <a:t> – Stores career paths, certifications, scholarships, placement resources, and higher education information for accurate recommendations.</a:t>
            </a:r>
          </a:p>
          <a:p>
            <a:r>
              <a:rPr lang="en-IN" dirty="0"/>
              <a:t>• </a:t>
            </a:r>
            <a:r>
              <a:rPr lang="en-IN" b="1" dirty="0"/>
              <a:t>RAG (Retrieval-Augmented Generation)</a:t>
            </a:r>
            <a:r>
              <a:rPr lang="en-IN" dirty="0"/>
              <a:t> – Retrieves relevant career information from the Knowledge Base before generating responses, improving accuracy and reliability.</a:t>
            </a:r>
          </a:p>
          <a:p>
            <a:r>
              <a:rPr lang="en-IN" dirty="0"/>
              <a:t>• </a:t>
            </a:r>
            <a:r>
              <a:rPr lang="en-IN" b="1" dirty="0"/>
              <a:t>Vector Database (Chroma DB)</a:t>
            </a:r>
            <a:r>
              <a:rPr lang="en-IN" dirty="0"/>
              <a:t> – Stores and retrieves career knowledge efficiently for RAG-based recommendations.</a:t>
            </a:r>
          </a:p>
          <a:p>
            <a:r>
              <a:rPr lang="en-IN" dirty="0"/>
              <a:t>• </a:t>
            </a:r>
            <a:r>
              <a:rPr lang="en-IN" b="1" dirty="0"/>
              <a:t>HTML, CSS &amp; JavaScript</a:t>
            </a:r>
            <a:r>
              <a:rPr lang="en-IN" dirty="0"/>
              <a:t> – Used to build the </a:t>
            </a:r>
            <a:r>
              <a:rPr lang="en-IN" dirty="0" err="1"/>
              <a:t>CareerSathi</a:t>
            </a:r>
            <a:r>
              <a:rPr lang="en-IN" dirty="0"/>
              <a:t> AI web interface.</a:t>
            </a:r>
          </a:p>
          <a:p>
            <a:r>
              <a:rPr lang="en-IN" dirty="0"/>
              <a:t>• </a:t>
            </a:r>
            <a:r>
              <a:rPr lang="en-IN" b="1" dirty="0" err="1"/>
              <a:t>Vercel</a:t>
            </a:r>
            <a:r>
              <a:rPr lang="en-IN" dirty="0"/>
              <a:t> – Used for deploying and hosting the </a:t>
            </a:r>
            <a:r>
              <a:rPr lang="en-IN" dirty="0" err="1"/>
              <a:t>CareerSathi</a:t>
            </a:r>
            <a:r>
              <a:rPr lang="en-IN" dirty="0"/>
              <a:t> AI website.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proposed </a:t>
            </a:r>
            <a:r>
              <a:rPr lang="en-US" b="1" dirty="0" err="1"/>
              <a:t>CareerSathi</a:t>
            </a:r>
            <a:r>
              <a:rPr lang="en-US" b="1" dirty="0"/>
              <a:t> AI</a:t>
            </a:r>
            <a:r>
              <a:rPr lang="en-US" dirty="0"/>
              <a:t> stands out by combining </a:t>
            </a:r>
            <a:r>
              <a:rPr lang="en-US" b="1" dirty="0"/>
              <a:t>Agentic AI, RAG, Knowledge-Based Guidance, and Personalized Career Planning</a:t>
            </a:r>
            <a:r>
              <a:rPr lang="en-US" dirty="0"/>
              <a:t> into a single intelligent career mentoring platform.</a:t>
            </a:r>
          </a:p>
          <a:p>
            <a:r>
              <a:rPr lang="en-US" b="1" dirty="0"/>
              <a:t>Multi-Agent Intelligence</a:t>
            </a:r>
            <a:r>
              <a:rPr lang="en-US" dirty="0"/>
              <a:t> – Multiple specialized agents collaborate to provide career discovery, skill gap analysis, roadmap generation, placement support, and higher education guidance.</a:t>
            </a:r>
          </a:p>
          <a:p>
            <a:r>
              <a:rPr lang="en-US" b="1" dirty="0"/>
              <a:t>RAG-Based Accuracy</a:t>
            </a:r>
            <a:r>
              <a:rPr lang="en-US" dirty="0"/>
              <a:t> – Retrieves career information from a curated Knowledge Base before generating responses, ensuring reliable and up-to-date recommendations.</a:t>
            </a:r>
          </a:p>
          <a:p>
            <a:r>
              <a:rPr lang="en-US" b="1" dirty="0"/>
              <a:t>Personalized Career Roadmaps</a:t>
            </a:r>
            <a:r>
              <a:rPr lang="en-US" dirty="0"/>
              <a:t> – Generates customized learning paths based on a student's interests, skills, academic background, and career goals.</a:t>
            </a:r>
          </a:p>
          <a:p>
            <a:r>
              <a:rPr lang="en-US" b="1" dirty="0"/>
              <a:t>Rural Youth Empowerment</a:t>
            </a:r>
            <a:r>
              <a:rPr lang="en-US" dirty="0"/>
              <a:t> – Bridges the career guidance gap for students in rural and underserved areas by providing 24/7 access to expert career mentorship.</a:t>
            </a:r>
          </a:p>
          <a:p>
            <a:r>
              <a:rPr lang="en-US" b="1" dirty="0"/>
              <a:t>Skill Gap Identification</a:t>
            </a:r>
            <a:r>
              <a:rPr lang="en-US" dirty="0"/>
              <a:t> – Analyzes current skills and recommends targeted learning resources, certifications, and projects to improve employability.</a:t>
            </a:r>
          </a:p>
          <a:p>
            <a:r>
              <a:rPr lang="en-US" b="1" dirty="0"/>
              <a:t>Career-to-Action Guidance</a:t>
            </a:r>
            <a:r>
              <a:rPr lang="en-US" dirty="0"/>
              <a:t> – Goes beyond suggestions by providing step-by-step roadmaps, practical learning plans, and actionable career milestones.</a:t>
            </a:r>
          </a:p>
          <a:p>
            <a:r>
              <a:rPr lang="en-US" b="1" dirty="0"/>
              <a:t>Higher Education &amp; Scholarship Support</a:t>
            </a:r>
            <a:r>
              <a:rPr lang="en-US" dirty="0"/>
              <a:t> – Recommends suitable degrees, certifications, scholarships, and higher education opportunities.</a:t>
            </a:r>
          </a:p>
          <a:p>
            <a:r>
              <a:rPr lang="en-US" b="1" dirty="0"/>
              <a:t>Placement Readiness Assistance</a:t>
            </a:r>
            <a:r>
              <a:rPr lang="en-US" dirty="0"/>
              <a:t> – Provides interview preparation, resume guidance, and job-oriented learning recommendations.</a:t>
            </a:r>
          </a:p>
          <a:p>
            <a:r>
              <a:rPr lang="en-US" b="1" dirty="0"/>
              <a:t>Scalable &amp; Enterprise-Ready</a:t>
            </a:r>
            <a:r>
              <a:rPr lang="en-US" dirty="0"/>
              <a:t> – Built using </a:t>
            </a:r>
            <a:r>
              <a:rPr lang="en-US" b="1" dirty="0"/>
              <a:t>IBM </a:t>
            </a:r>
            <a:r>
              <a:rPr lang="en-US" b="1" dirty="0" err="1"/>
              <a:t>watsonx</a:t>
            </a:r>
            <a:r>
              <a:rPr lang="en-US" b="1" dirty="0"/>
              <a:t> Orchestrate, IBM watsonx.ai, Granite Models, </a:t>
            </a:r>
            <a:r>
              <a:rPr lang="en-US" b="1" dirty="0" err="1"/>
              <a:t>LangFlow</a:t>
            </a:r>
            <a:r>
              <a:rPr lang="en-US" b="1" dirty="0"/>
              <a:t>, and RAG architecture</a:t>
            </a:r>
            <a:r>
              <a:rPr lang="en-US" dirty="0"/>
              <a:t>, ensuring reliability, scalability, and AI governance.</a:t>
            </a:r>
          </a:p>
          <a:p>
            <a:r>
              <a:rPr lang="en-US" b="1" dirty="0"/>
              <a:t>Impact:</a:t>
            </a:r>
            <a:r>
              <a:rPr lang="en-US" dirty="0"/>
              <a:t> </a:t>
            </a:r>
            <a:r>
              <a:rPr lang="en-US" dirty="0" err="1"/>
              <a:t>CareerSathi</a:t>
            </a:r>
            <a:r>
              <a:rPr lang="en-US" dirty="0"/>
              <a:t> AI acts as a </a:t>
            </a:r>
            <a:r>
              <a:rPr lang="en-US" b="1" dirty="0"/>
              <a:t>smart digital career mentor</a:t>
            </a:r>
            <a:r>
              <a:rPr lang="en-US" dirty="0"/>
              <a:t>, helping students make informed career decisions, build relevant skills, and confidently achieve their professional goals.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558324" y="39176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558324" y="1095780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Link: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https://github.com/kala-123-gif/IBM</a:t>
            </a:r>
            <a:endParaRPr lang="en-US"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Careersathi_ai</a:t>
            </a:r>
            <a:r>
              <a:rPr lang="en-US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Link: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https://careersathiai.vercel.app/</a:t>
            </a: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8432E9-EA88-FFD4-CC60-C924EF23E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" y="2327791"/>
            <a:ext cx="8280400" cy="39924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03B83D-120D-AC4B-1286-302D53E99B06}"/>
              </a:ext>
            </a:extLst>
          </p:cNvPr>
          <p:cNvSpPr txBox="1"/>
          <p:nvPr/>
        </p:nvSpPr>
        <p:spPr>
          <a:xfrm>
            <a:off x="599440" y="182880"/>
            <a:ext cx="49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highlight>
                  <a:srgbClr val="FFFF00"/>
                </a:highlight>
              </a:rPr>
              <a:t>How to Access </a:t>
            </a:r>
            <a:r>
              <a:rPr lang="en-US" sz="1800" b="1" dirty="0" err="1">
                <a:highlight>
                  <a:srgbClr val="FFFF00"/>
                </a:highlight>
              </a:rPr>
              <a:t>CareerSathi</a:t>
            </a:r>
            <a:r>
              <a:rPr lang="en-US" sz="1800" b="1" dirty="0">
                <a:highlight>
                  <a:srgbClr val="FFFF00"/>
                </a:highlight>
              </a:rPr>
              <a:t> AI</a:t>
            </a:r>
            <a:endParaRPr lang="en-IN" sz="1800" b="1" dirty="0">
              <a:highlight>
                <a:srgbClr val="FFFF00"/>
              </a:highlight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B56335-F708-AC93-0262-4070C9D3A041}"/>
              </a:ext>
            </a:extLst>
          </p:cNvPr>
          <p:cNvCxnSpPr/>
          <p:nvPr/>
        </p:nvCxnSpPr>
        <p:spPr>
          <a:xfrm>
            <a:off x="6901180" y="4610418"/>
            <a:ext cx="1351280" cy="1148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09161CB-E993-3CCE-E307-3713F670FADA}"/>
              </a:ext>
            </a:extLst>
          </p:cNvPr>
          <p:cNvSpPr txBox="1"/>
          <p:nvPr/>
        </p:nvSpPr>
        <p:spPr>
          <a:xfrm>
            <a:off x="7162800" y="5885484"/>
            <a:ext cx="191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Click here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8482C5-AC1F-FDE8-4498-B5660907F525}"/>
              </a:ext>
            </a:extLst>
          </p:cNvPr>
          <p:cNvSpPr txBox="1"/>
          <p:nvPr/>
        </p:nvSpPr>
        <p:spPr>
          <a:xfrm>
            <a:off x="584202" y="998657"/>
            <a:ext cx="103276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1: Click the </a:t>
            </a:r>
            <a:r>
              <a:rPr lang="en-IN" b="1" dirty="0" err="1"/>
              <a:t>CareerSathi</a:t>
            </a:r>
            <a:r>
              <a:rPr lang="en-IN" b="1" dirty="0"/>
              <a:t> AI link.                     </a:t>
            </a:r>
            <a:r>
              <a:rPr lang="en-IN" sz="1600" b="1" dirty="0" err="1">
                <a:hlinkClick r:id="rId3"/>
              </a:rPr>
              <a:t>CareerSathi</a:t>
            </a:r>
            <a:r>
              <a:rPr lang="en-IN" sz="1600" b="1" dirty="0">
                <a:hlinkClick r:id="rId3"/>
              </a:rPr>
              <a:t> AI</a:t>
            </a:r>
            <a:r>
              <a:rPr lang="en-IN" sz="1600" b="1" dirty="0"/>
              <a:t>   /   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https://careersathiai.vercel.app/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endParaRPr lang="en-IN" b="1" dirty="0"/>
          </a:p>
          <a:p>
            <a:r>
              <a:rPr lang="en-IN" b="1" dirty="0"/>
              <a:t>Step 2: The </a:t>
            </a:r>
            <a:r>
              <a:rPr lang="en-IN" b="1" dirty="0" err="1"/>
              <a:t>CareerSathi</a:t>
            </a:r>
            <a:r>
              <a:rPr lang="en-IN" b="1" dirty="0"/>
              <a:t> AI webpage will open.</a:t>
            </a:r>
          </a:p>
          <a:p>
            <a:endParaRPr lang="en-IN" b="1" dirty="0"/>
          </a:p>
          <a:p>
            <a:r>
              <a:rPr lang="en-IN" b="1" dirty="0"/>
              <a:t>Step 3: Click the chat toggle button located at the bottom-right corner of the page.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E32CB-EDF4-E5A7-1D66-A0AF5CDBCE4D}"/>
              </a:ext>
            </a:extLst>
          </p:cNvPr>
          <p:cNvCxnSpPr>
            <a:cxnSpLocks/>
          </p:cNvCxnSpPr>
          <p:nvPr/>
        </p:nvCxnSpPr>
        <p:spPr>
          <a:xfrm>
            <a:off x="3942080" y="1158240"/>
            <a:ext cx="6807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98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BEC4A0C-0A38-6CC5-0A27-254BE30D0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2" y="2343390"/>
            <a:ext cx="9143998" cy="3894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EE95E3-5767-E333-0894-B763CDDF5764}"/>
              </a:ext>
            </a:extLst>
          </p:cNvPr>
          <p:cNvSpPr txBox="1"/>
          <p:nvPr/>
        </p:nvSpPr>
        <p:spPr>
          <a:xfrm>
            <a:off x="650242" y="3860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highlight>
                  <a:srgbClr val="00FF00"/>
                </a:highlight>
              </a:rPr>
              <a:t>Using </a:t>
            </a:r>
            <a:r>
              <a:rPr lang="en-IN" sz="1800" b="1" dirty="0" err="1">
                <a:highlight>
                  <a:srgbClr val="00FF00"/>
                </a:highlight>
              </a:rPr>
              <a:t>CareerSathi</a:t>
            </a:r>
            <a:r>
              <a:rPr lang="en-IN" sz="1800" b="1" dirty="0">
                <a:highlight>
                  <a:srgbClr val="00FF00"/>
                </a:highlight>
              </a:rPr>
              <a:t>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6FD4C-6042-708D-39A9-E2CD501E50FD}"/>
              </a:ext>
            </a:extLst>
          </p:cNvPr>
          <p:cNvSpPr txBox="1"/>
          <p:nvPr/>
        </p:nvSpPr>
        <p:spPr>
          <a:xfrm>
            <a:off x="528322" y="856903"/>
            <a:ext cx="92659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4: The </a:t>
            </a:r>
            <a:r>
              <a:rPr lang="en-IN" b="1" dirty="0" err="1"/>
              <a:t>CareerSathi</a:t>
            </a:r>
            <a:r>
              <a:rPr lang="en-IN" b="1" dirty="0"/>
              <a:t> AI chat window will open.</a:t>
            </a:r>
          </a:p>
          <a:p>
            <a:endParaRPr lang="en-IN" b="1" dirty="0"/>
          </a:p>
          <a:p>
            <a:r>
              <a:rPr lang="en-IN" b="1" dirty="0"/>
              <a:t>Step 5: Enter your career-related queries.</a:t>
            </a:r>
          </a:p>
          <a:p>
            <a:endParaRPr lang="en-IN" b="1" dirty="0"/>
          </a:p>
          <a:p>
            <a:r>
              <a:rPr lang="en-IN" b="1" dirty="0"/>
              <a:t>Step 6: Receive personalized career guidance, skill recommendations, learning roadmaps, and internship suggestions.</a:t>
            </a:r>
          </a:p>
        </p:txBody>
      </p:sp>
    </p:spTree>
    <p:extLst>
      <p:ext uri="{BB962C8B-B14F-4D97-AF65-F5344CB8AC3E}">
        <p14:creationId xmlns:p14="http://schemas.microsoft.com/office/powerpoint/2010/main" val="1821385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C631FA-529F-6E4A-FDBE-5901EAA1F6E5}"/>
              </a:ext>
            </a:extLst>
          </p:cNvPr>
          <p:cNvSpPr txBox="1"/>
          <p:nvPr/>
        </p:nvSpPr>
        <p:spPr>
          <a:xfrm>
            <a:off x="1158240" y="172720"/>
            <a:ext cx="624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Token Usage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980CC2-885D-9E81-250D-6FD767EFC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960"/>
            <a:ext cx="12192000" cy="58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313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629444" y="451881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629444" y="1290499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1. AI-Powered Voice Assistant &amp; Multilingual Support</a:t>
            </a:r>
          </a:p>
          <a:p>
            <a:r>
              <a:rPr lang="en-US" dirty="0"/>
              <a:t>The system can be enhanced with voice interaction and support for regional languages, enabling rural students to access career guidance in their preferred language. This will improve accessibility and inclusiveness.</a:t>
            </a:r>
          </a:p>
          <a:p>
            <a:r>
              <a:rPr lang="en-US" b="1" dirty="0"/>
              <a:t>2. Advanced Career Prediction &amp; Job Market Insights</a:t>
            </a:r>
          </a:p>
          <a:p>
            <a:r>
              <a:rPr lang="en-US" dirty="0"/>
              <a:t>Future versions can integrate real-time industry trends, job market analytics, and skill demand forecasting to provide more accurate career recommendations and emerging career opportunities.</a:t>
            </a:r>
          </a:p>
          <a:p>
            <a:r>
              <a:rPr lang="en-US" b="1" dirty="0"/>
              <a:t>3. Personalized Learning &amp; Certification Tracking</a:t>
            </a:r>
          </a:p>
          <a:p>
            <a:r>
              <a:rPr lang="en-US" dirty="0" err="1"/>
              <a:t>CareerSathi</a:t>
            </a:r>
            <a:r>
              <a:rPr lang="en-US" dirty="0"/>
              <a:t> AI can track student progress, recommend personalized courses and certifications, and dynamically update learning roadmaps based on individual achievements.</a:t>
            </a:r>
          </a:p>
          <a:p>
            <a:r>
              <a:rPr lang="en-US" b="1" dirty="0"/>
              <a:t>4. Scholarship &amp; Internship Recommendation Engine</a:t>
            </a:r>
          </a:p>
          <a:p>
            <a:r>
              <a:rPr lang="en-US" dirty="0"/>
              <a:t>The platform can automatically identify and recommend relevant scholarships, internships, competitions, and higher education opportunities based on student profiles.</a:t>
            </a:r>
          </a:p>
          <a:p>
            <a:r>
              <a:rPr lang="en-US" b="1" dirty="0"/>
              <a:t>5. Mobile App &amp; Offline Accessibility</a:t>
            </a:r>
          </a:p>
          <a:p>
            <a:r>
              <a:rPr lang="en-US" dirty="0"/>
              <a:t>A dedicated mobile application with offline support can help students in rural and low-connectivity regions access career guidance anytime and anywhere.</a:t>
            </a:r>
          </a:p>
          <a:p>
            <a:r>
              <a:rPr lang="en-US" b="1" dirty="0"/>
              <a:t>6. Institution &amp; Placement Cell Integration</a:t>
            </a:r>
          </a:p>
          <a:p>
            <a:r>
              <a:rPr lang="en-US" dirty="0" err="1"/>
              <a:t>CareerSathi</a:t>
            </a:r>
            <a:r>
              <a:rPr lang="en-US" dirty="0"/>
              <a:t> AI can be integrated with colleges and placement cells to provide institution-specific career guidance, placement preparation, and student progress monitoring.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5103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</TotalTime>
  <Words>1556</Words>
  <Application>Microsoft Office PowerPoint</Application>
  <PresentationFormat>Widescreen</PresentationFormat>
  <Paragraphs>148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WHO ARE YOU ?</dc:creator>
  <cp:lastModifiedBy>suryakalagollapalli268@outlook.com</cp:lastModifiedBy>
  <cp:revision>89</cp:revision>
  <dcterms:created xsi:type="dcterms:W3CDTF">2025-07-08T05:06:56Z</dcterms:created>
  <dcterms:modified xsi:type="dcterms:W3CDTF">2026-06-04T10:07:28Z</dcterms:modified>
</cp:coreProperties>
</file>